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89100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457200" y="1371600"/>
            <a:ext cx="8229600" cy="1371600"/>
          </a:xfrm>
          <a:prstGeom prst="rect">
            <a:avLst/>
          </a:prstGeom>
          <a:noFill/>
          <a:ln/>
        </p:spPr>
        <p:txBody>
          <a:bodyPr wrap="square" rtlCol="0" anchor="ctr"/>
          <a:lstStyle/>
          <a:p>
            <a:pPr marL="0" indent="0" algn="ctr">
              <a:buNone/>
            </a:pPr>
            <a:r>
              <a:rPr lang="en-US" sz="4400" b="1" dirty="0">
                <a:solidFill>
                  <a:srgbClr val="FFFFFF"/>
                </a:solidFill>
              </a:rPr>
              <a:t>THE HUMAN RIGHTS AGENDA IN UNITED NATIONS LED PEACEKEEPING FIELD MISSIONS</a:t>
            </a:r>
            <a:endParaRPr lang="en-US" sz="4400" dirty="0"/>
          </a:p>
        </p:txBody>
      </p:sp>
      <p:sp>
        <p:nvSpPr>
          <p:cNvPr id="3" name="Text 1"/>
          <p:cNvSpPr/>
          <p:nvPr/>
        </p:nvSpPr>
        <p:spPr>
          <a:xfrm>
            <a:off x="457200" y="2926080"/>
            <a:ext cx="8229600" cy="548640"/>
          </a:xfrm>
          <a:prstGeom prst="rect">
            <a:avLst/>
          </a:prstGeom>
          <a:noFill/>
          <a:ln/>
        </p:spPr>
        <p:txBody>
          <a:bodyPr wrap="square" rtlCol="0" anchor="ctr"/>
          <a:lstStyle/>
          <a:p>
            <a:pPr marL="0" indent="0" algn="ctr">
              <a:buNone/>
            </a:pPr>
            <a:r>
              <a:rPr lang="en-US" sz="2800" i="1" dirty="0">
                <a:solidFill>
                  <a:srgbClr val="CADCFC"/>
                </a:solidFill>
              </a:rPr>
              <a:t>A Practitioner Approach</a:t>
            </a:r>
            <a:endParaRPr lang="en-US" sz="2800" dirty="0"/>
          </a:p>
        </p:txBody>
      </p:sp>
      <p:sp>
        <p:nvSpPr>
          <p:cNvPr id="4" name="Text 2"/>
          <p:cNvSpPr/>
          <p:nvPr/>
        </p:nvSpPr>
        <p:spPr>
          <a:xfrm>
            <a:off x="457200" y="3657600"/>
            <a:ext cx="8229600" cy="365760"/>
          </a:xfrm>
          <a:prstGeom prst="rect">
            <a:avLst/>
          </a:prstGeom>
          <a:noFill/>
          <a:ln/>
        </p:spPr>
        <p:txBody>
          <a:bodyPr wrap="square" rtlCol="0" anchor="ctr"/>
          <a:lstStyle/>
          <a:p>
            <a:pPr marL="0" indent="0" algn="ctr">
              <a:buNone/>
            </a:pPr>
            <a:r>
              <a:rPr lang="en-US" sz="1600" dirty="0">
                <a:solidFill>
                  <a:srgbClr val="CADCFC"/>
                </a:solidFill>
              </a:rPr>
              <a:t>Showcasing UN Peacekeeping Missions in Central African Republic and South Sudan</a:t>
            </a:r>
            <a:endParaRPr lang="en-US" sz="1600" dirty="0"/>
          </a:p>
        </p:txBody>
      </p:sp>
      <p:sp>
        <p:nvSpPr>
          <p:cNvPr id="5" name="Text 3"/>
          <p:cNvSpPr/>
          <p:nvPr/>
        </p:nvSpPr>
        <p:spPr>
          <a:xfrm>
            <a:off x="457200" y="4389120"/>
            <a:ext cx="8229600" cy="274320"/>
          </a:xfrm>
          <a:prstGeom prst="rect">
            <a:avLst/>
          </a:prstGeom>
          <a:noFill/>
          <a:ln/>
        </p:spPr>
        <p:txBody>
          <a:bodyPr wrap="square" rtlCol="0" anchor="ctr"/>
          <a:lstStyle/>
          <a:p>
            <a:pPr marL="0" indent="0" algn="ctr">
              <a:buNone/>
            </a:pPr>
            <a:r>
              <a:rPr lang="en-US" sz="1400" dirty="0">
                <a:solidFill>
                  <a:srgbClr val="FFFFFF"/>
                </a:solidFill>
              </a:rPr>
              <a:t>Dr. Musa Yerro Gassama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600" b="1" dirty="0">
                <a:solidFill>
                  <a:srgbClr val="065A82"/>
                </a:solidFill>
              </a:rPr>
              <a:t>MODULE DESCRIPTION</a:t>
            </a:r>
            <a:endParaRPr lang="en-US" sz="3600" dirty="0"/>
          </a:p>
        </p:txBody>
      </p:sp>
      <p:sp>
        <p:nvSpPr>
          <p:cNvPr id="3" name="Shape 1"/>
          <p:cNvSpPr/>
          <p:nvPr/>
        </p:nvSpPr>
        <p:spPr>
          <a:xfrm>
            <a:off x="457200" y="1188720"/>
            <a:ext cx="8229600" cy="1280160"/>
          </a:xfrm>
          <a:prstGeom prst="rect">
            <a:avLst/>
          </a:prstGeom>
          <a:solidFill>
            <a:srgbClr val="FFFFFF"/>
          </a:solidFill>
          <a:ln/>
        </p:spPr>
        <p:txBody>
          <a:bodyPr/>
          <a:lstStyle/>
          <a:p>
            <a:endParaRPr lang="en-US"/>
          </a:p>
        </p:txBody>
      </p:sp>
      <p:sp>
        <p:nvSpPr>
          <p:cNvPr id="4" name="Text 2"/>
          <p:cNvSpPr/>
          <p:nvPr/>
        </p:nvSpPr>
        <p:spPr>
          <a:xfrm>
            <a:off x="640080" y="1280160"/>
            <a:ext cx="7863840" cy="274320"/>
          </a:xfrm>
          <a:prstGeom prst="rect">
            <a:avLst/>
          </a:prstGeom>
          <a:noFill/>
          <a:ln/>
        </p:spPr>
        <p:txBody>
          <a:bodyPr wrap="square" rtlCol="0" anchor="ctr"/>
          <a:lstStyle/>
          <a:p>
            <a:pPr marL="0" indent="0">
              <a:buNone/>
            </a:pPr>
            <a:r>
              <a:rPr lang="en-US" sz="1800" b="1" dirty="0">
                <a:solidFill>
                  <a:srgbClr val="1C7293"/>
                </a:solidFill>
              </a:rPr>
              <a:t>Background</a:t>
            </a:r>
            <a:endParaRPr lang="en-US" sz="1800" dirty="0"/>
          </a:p>
        </p:txBody>
      </p:sp>
      <p:sp>
        <p:nvSpPr>
          <p:cNvPr id="5" name="Text 3"/>
          <p:cNvSpPr/>
          <p:nvPr/>
        </p:nvSpPr>
        <p:spPr>
          <a:xfrm>
            <a:off x="640080" y="1600200"/>
            <a:ext cx="7863840" cy="777240"/>
          </a:xfrm>
          <a:prstGeom prst="rect">
            <a:avLst/>
          </a:prstGeom>
          <a:noFill/>
          <a:ln/>
        </p:spPr>
        <p:txBody>
          <a:bodyPr wrap="square" rtlCol="0" anchor="ctr"/>
          <a:lstStyle/>
          <a:p>
            <a:pPr marL="0" indent="0">
              <a:lnSpc>
                <a:spcPts val="1800"/>
              </a:lnSpc>
              <a:buNone/>
            </a:pPr>
            <a:r>
              <a:rPr lang="en-US" sz="1300" dirty="0">
                <a:solidFill>
                  <a:srgbClr val="2C3E50"/>
                </a:solidFill>
              </a:rPr>
              <a:t>Conflicts at national level, though could be matters of internal country affairs, could also trigger or pose threats beyond country political boundaries with dire consequences to regional and global security. This situation calls for regional and global interventions, including the use of multilateral mechanisms.</a:t>
            </a:r>
            <a:endParaRPr lang="en-US" sz="1300" dirty="0"/>
          </a:p>
        </p:txBody>
      </p:sp>
      <p:sp>
        <p:nvSpPr>
          <p:cNvPr id="6" name="Shape 4"/>
          <p:cNvSpPr/>
          <p:nvPr/>
        </p:nvSpPr>
        <p:spPr>
          <a:xfrm>
            <a:off x="457200" y="2651760"/>
            <a:ext cx="3931920" cy="1645920"/>
          </a:xfrm>
          <a:prstGeom prst="rect">
            <a:avLst/>
          </a:prstGeom>
          <a:solidFill>
            <a:srgbClr val="FFFFFF"/>
          </a:solidFill>
          <a:ln/>
        </p:spPr>
        <p:txBody>
          <a:bodyPr/>
          <a:lstStyle/>
          <a:p>
            <a:endParaRPr lang="en-US"/>
          </a:p>
        </p:txBody>
      </p:sp>
      <p:sp>
        <p:nvSpPr>
          <p:cNvPr id="7" name="Text 5"/>
          <p:cNvSpPr/>
          <p:nvPr/>
        </p:nvSpPr>
        <p:spPr>
          <a:xfrm>
            <a:off x="640080" y="2743200"/>
            <a:ext cx="3566160" cy="274320"/>
          </a:xfrm>
          <a:prstGeom prst="rect">
            <a:avLst/>
          </a:prstGeom>
          <a:noFill/>
          <a:ln/>
        </p:spPr>
        <p:txBody>
          <a:bodyPr wrap="square" rtlCol="0" anchor="ctr"/>
          <a:lstStyle/>
          <a:p>
            <a:pPr marL="0" indent="0">
              <a:buNone/>
            </a:pPr>
            <a:r>
              <a:rPr lang="en-US" sz="1600" b="1" dirty="0">
                <a:solidFill>
                  <a:srgbClr val="1C7293"/>
                </a:solidFill>
              </a:rPr>
              <a:t>Target Audience</a:t>
            </a:r>
            <a:endParaRPr lang="en-US" sz="1600" dirty="0"/>
          </a:p>
        </p:txBody>
      </p:sp>
      <p:sp>
        <p:nvSpPr>
          <p:cNvPr id="8" name="Text 6"/>
          <p:cNvSpPr/>
          <p:nvPr/>
        </p:nvSpPr>
        <p:spPr>
          <a:xfrm>
            <a:off x="640080" y="3108960"/>
            <a:ext cx="3566160" cy="1097280"/>
          </a:xfrm>
          <a:prstGeom prst="rect">
            <a:avLst/>
          </a:prstGeom>
          <a:noFill/>
          <a:ln/>
        </p:spPr>
        <p:txBody>
          <a:bodyPr wrap="square" rtlCol="0" anchor="ctr"/>
          <a:lstStyle/>
          <a:p>
            <a:pPr marL="0" indent="0">
              <a:lnSpc>
                <a:spcPts val="1400"/>
              </a:lnSpc>
              <a:buNone/>
            </a:pPr>
            <a:r>
              <a:rPr lang="en-US" sz="1100" dirty="0">
                <a:solidFill>
                  <a:srgbClr val="2C3E50"/>
                </a:solidFill>
              </a:rPr>
              <a:t>Students at tertiary level with intellectual curiosity, including those undertaking social science and behavioral science studies: Public Policy and Administration, Law, Diplomacy, International Affairs, International Relations, Conflict Management and Resolution, Organizational and Global Leadership studies.</a:t>
            </a:r>
            <a:endParaRPr lang="en-US" sz="1100" dirty="0"/>
          </a:p>
        </p:txBody>
      </p:sp>
      <p:sp>
        <p:nvSpPr>
          <p:cNvPr id="9" name="Shape 7"/>
          <p:cNvSpPr/>
          <p:nvPr/>
        </p:nvSpPr>
        <p:spPr>
          <a:xfrm>
            <a:off x="4754880" y="2651760"/>
            <a:ext cx="3931920" cy="1645920"/>
          </a:xfrm>
          <a:prstGeom prst="rect">
            <a:avLst/>
          </a:prstGeom>
          <a:solidFill>
            <a:srgbClr val="FFFFFF"/>
          </a:solidFill>
          <a:ln/>
        </p:spPr>
        <p:txBody>
          <a:bodyPr/>
          <a:lstStyle/>
          <a:p>
            <a:endParaRPr lang="en-US"/>
          </a:p>
        </p:txBody>
      </p:sp>
      <p:sp>
        <p:nvSpPr>
          <p:cNvPr id="10" name="Text 8"/>
          <p:cNvSpPr/>
          <p:nvPr/>
        </p:nvSpPr>
        <p:spPr>
          <a:xfrm>
            <a:off x="4937760" y="2743200"/>
            <a:ext cx="3566160" cy="274320"/>
          </a:xfrm>
          <a:prstGeom prst="rect">
            <a:avLst/>
          </a:prstGeom>
          <a:noFill/>
          <a:ln/>
        </p:spPr>
        <p:txBody>
          <a:bodyPr wrap="square" rtlCol="0" anchor="ctr"/>
          <a:lstStyle/>
          <a:p>
            <a:pPr marL="0" indent="0">
              <a:buNone/>
            </a:pPr>
            <a:r>
              <a:rPr lang="en-US" sz="1600" b="1" dirty="0">
                <a:solidFill>
                  <a:srgbClr val="1C7293"/>
                </a:solidFill>
              </a:rPr>
              <a:t>Objectives</a:t>
            </a:r>
            <a:endParaRPr lang="en-US" sz="1600" dirty="0"/>
          </a:p>
        </p:txBody>
      </p:sp>
      <p:sp>
        <p:nvSpPr>
          <p:cNvPr id="11" name="Text 9"/>
          <p:cNvSpPr/>
          <p:nvPr/>
        </p:nvSpPr>
        <p:spPr>
          <a:xfrm>
            <a:off x="4937760" y="3108960"/>
            <a:ext cx="3566160" cy="1097280"/>
          </a:xfrm>
          <a:prstGeom prst="rect">
            <a:avLst/>
          </a:prstGeom>
          <a:noFill/>
          <a:ln/>
        </p:spPr>
        <p:txBody>
          <a:bodyPr wrap="square" rtlCol="0" anchor="ctr"/>
          <a:lstStyle/>
          <a:p>
            <a:pPr marL="0" indent="0">
              <a:lnSpc>
                <a:spcPts val="1400"/>
              </a:lnSpc>
              <a:buNone/>
            </a:pPr>
            <a:r>
              <a:rPr lang="en-US" sz="1100" dirty="0">
                <a:solidFill>
                  <a:srgbClr val="2C3E50"/>
                </a:solidFill>
              </a:rPr>
              <a:t>The lecture aims to share a wealth of knowledge and lived experiences to empower and inspire students to contribute to social change. It demonstrates how the multilateral system is tested at field level by individual member states and ordinary people, far beyond the conference halls of New York and Geneva, on a daily basis.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600" b="1" dirty="0">
                <a:solidFill>
                  <a:srgbClr val="065A82"/>
                </a:solidFill>
              </a:rPr>
              <a:t>INSTRUCTOR PROFILE</a:t>
            </a:r>
            <a:endParaRPr lang="en-US" sz="3600" dirty="0"/>
          </a:p>
        </p:txBody>
      </p:sp>
      <p:sp>
        <p:nvSpPr>
          <p:cNvPr id="3" name="Shape 1"/>
          <p:cNvSpPr/>
          <p:nvPr/>
        </p:nvSpPr>
        <p:spPr>
          <a:xfrm>
            <a:off x="457200" y="1097280"/>
            <a:ext cx="8229600" cy="3566160"/>
          </a:xfrm>
          <a:prstGeom prst="rect">
            <a:avLst/>
          </a:prstGeom>
          <a:solidFill>
            <a:srgbClr val="FFFFFF"/>
          </a:solidFill>
          <a:ln/>
        </p:spPr>
        <p:txBody>
          <a:bodyPr/>
          <a:lstStyle/>
          <a:p>
            <a:endParaRPr lang="en-US"/>
          </a:p>
        </p:txBody>
      </p:sp>
      <p:sp>
        <p:nvSpPr>
          <p:cNvPr id="4" name="Shape 2"/>
          <p:cNvSpPr/>
          <p:nvPr/>
        </p:nvSpPr>
        <p:spPr>
          <a:xfrm>
            <a:off x="457200" y="1097280"/>
            <a:ext cx="73152" cy="3566160"/>
          </a:xfrm>
          <a:prstGeom prst="rect">
            <a:avLst/>
          </a:prstGeom>
          <a:solidFill>
            <a:srgbClr val="21295C"/>
          </a:solidFill>
          <a:ln/>
        </p:spPr>
        <p:txBody>
          <a:bodyPr/>
          <a:lstStyle/>
          <a:p>
            <a:endParaRPr lang="en-US"/>
          </a:p>
        </p:txBody>
      </p:sp>
      <p:sp>
        <p:nvSpPr>
          <p:cNvPr id="5" name="Text 3"/>
          <p:cNvSpPr/>
          <p:nvPr/>
        </p:nvSpPr>
        <p:spPr>
          <a:xfrm>
            <a:off x="731520" y="1280160"/>
            <a:ext cx="7680960" cy="365760"/>
          </a:xfrm>
          <a:prstGeom prst="rect">
            <a:avLst/>
          </a:prstGeom>
          <a:noFill/>
          <a:ln/>
        </p:spPr>
        <p:txBody>
          <a:bodyPr wrap="square" rtlCol="0" anchor="ctr"/>
          <a:lstStyle/>
          <a:p>
            <a:pPr marL="0" indent="0">
              <a:buNone/>
            </a:pPr>
            <a:r>
              <a:rPr lang="en-US" sz="2400" b="1" dirty="0">
                <a:solidFill>
                  <a:srgbClr val="065A82"/>
                </a:solidFill>
              </a:rPr>
              <a:t>Dr. Musa Yerro Gassama</a:t>
            </a:r>
            <a:endParaRPr lang="en-US" sz="2400" dirty="0"/>
          </a:p>
        </p:txBody>
      </p:sp>
      <p:sp>
        <p:nvSpPr>
          <p:cNvPr id="6" name="Text 4"/>
          <p:cNvSpPr/>
          <p:nvPr/>
        </p:nvSpPr>
        <p:spPr>
          <a:xfrm>
            <a:off x="731520" y="1691640"/>
            <a:ext cx="7680960" cy="228600"/>
          </a:xfrm>
          <a:prstGeom prst="rect">
            <a:avLst/>
          </a:prstGeom>
          <a:noFill/>
          <a:ln/>
        </p:spPr>
        <p:txBody>
          <a:bodyPr wrap="square" rtlCol="0" anchor="ctr"/>
          <a:lstStyle/>
          <a:p>
            <a:pPr marL="0" indent="0">
              <a:buNone/>
            </a:pPr>
            <a:r>
              <a:rPr lang="en-US" sz="1400" i="1" dirty="0">
                <a:solidFill>
                  <a:srgbClr val="1C7293"/>
                </a:solidFill>
              </a:rPr>
              <a:t>Senior Human Rights Officer, United Nations</a:t>
            </a:r>
            <a:endParaRPr lang="en-US" sz="1400" dirty="0"/>
          </a:p>
        </p:txBody>
      </p:sp>
      <p:sp>
        <p:nvSpPr>
          <p:cNvPr id="7" name="Text 5"/>
          <p:cNvSpPr/>
          <p:nvPr/>
        </p:nvSpPr>
        <p:spPr>
          <a:xfrm>
            <a:off x="731520" y="2011680"/>
            <a:ext cx="7680960" cy="182880"/>
          </a:xfrm>
          <a:prstGeom prst="rect">
            <a:avLst/>
          </a:prstGeom>
          <a:noFill/>
          <a:ln/>
        </p:spPr>
        <p:txBody>
          <a:bodyPr wrap="square" rtlCol="0" anchor="ctr"/>
          <a:lstStyle/>
          <a:p>
            <a:pPr marL="0" indent="0">
              <a:buNone/>
            </a:pPr>
            <a:r>
              <a:rPr lang="en-US" sz="1100" b="1" dirty="0">
                <a:solidFill>
                  <a:srgbClr val="2C3E50"/>
                </a:solidFill>
              </a:rPr>
              <a:t>Email: </a:t>
            </a:r>
            <a:r>
              <a:rPr lang="en-US" sz="1100" dirty="0">
                <a:solidFill>
                  <a:srgbClr val="2C3E50"/>
                </a:solidFill>
              </a:rPr>
              <a:t>gassama@un.org</a:t>
            </a:r>
            <a:endParaRPr lang="en-US" sz="1100" dirty="0"/>
          </a:p>
        </p:txBody>
      </p:sp>
      <p:sp>
        <p:nvSpPr>
          <p:cNvPr id="8" name="Text 6"/>
          <p:cNvSpPr/>
          <p:nvPr/>
        </p:nvSpPr>
        <p:spPr>
          <a:xfrm>
            <a:off x="731520" y="2240280"/>
            <a:ext cx="7680960" cy="182880"/>
          </a:xfrm>
          <a:prstGeom prst="rect">
            <a:avLst/>
          </a:prstGeom>
          <a:noFill/>
          <a:ln/>
        </p:spPr>
        <p:txBody>
          <a:bodyPr wrap="square" rtlCol="0" anchor="ctr"/>
          <a:lstStyle/>
          <a:p>
            <a:pPr marL="0" indent="0">
              <a:buNone/>
            </a:pPr>
            <a:r>
              <a:rPr lang="en-US" sz="1100" b="1" dirty="0">
                <a:solidFill>
                  <a:srgbClr val="2C3E50"/>
                </a:solidFill>
              </a:rPr>
              <a:t>LinkedIn: </a:t>
            </a:r>
            <a:r>
              <a:rPr lang="en-US" sz="1100" dirty="0">
                <a:solidFill>
                  <a:srgbClr val="2C3E50"/>
                </a:solidFill>
              </a:rPr>
              <a:t>https://www.linkedin.com/in/dr-musa-yerro-g-072524254</a:t>
            </a:r>
            <a:endParaRPr lang="en-US" sz="1100" dirty="0"/>
          </a:p>
        </p:txBody>
      </p:sp>
      <p:sp>
        <p:nvSpPr>
          <p:cNvPr id="9" name="Text 7"/>
          <p:cNvSpPr/>
          <p:nvPr/>
        </p:nvSpPr>
        <p:spPr>
          <a:xfrm>
            <a:off x="731520" y="2606040"/>
            <a:ext cx="7680960" cy="274320"/>
          </a:xfrm>
          <a:prstGeom prst="rect">
            <a:avLst/>
          </a:prstGeom>
          <a:noFill/>
          <a:ln/>
        </p:spPr>
        <p:txBody>
          <a:bodyPr wrap="square" rtlCol="0" anchor="ctr"/>
          <a:lstStyle/>
          <a:p>
            <a:pPr marL="0" indent="0">
              <a:buNone/>
            </a:pPr>
            <a:r>
              <a:rPr lang="en-US" sz="1600" b="1" dirty="0">
                <a:solidFill>
                  <a:srgbClr val="1C7293"/>
                </a:solidFill>
              </a:rPr>
              <a:t>Professional Summary</a:t>
            </a:r>
            <a:endParaRPr lang="en-US" sz="1600" dirty="0"/>
          </a:p>
        </p:txBody>
      </p:sp>
      <p:sp>
        <p:nvSpPr>
          <p:cNvPr id="10" name="Text 8"/>
          <p:cNvSpPr/>
          <p:nvPr/>
        </p:nvSpPr>
        <p:spPr>
          <a:xfrm>
            <a:off x="731520" y="2926080"/>
            <a:ext cx="7680960" cy="1554480"/>
          </a:xfrm>
          <a:prstGeom prst="rect">
            <a:avLst/>
          </a:prstGeom>
          <a:noFill/>
          <a:ln/>
        </p:spPr>
        <p:txBody>
          <a:bodyPr wrap="square" rtlCol="0" anchor="ctr"/>
          <a:lstStyle/>
          <a:p>
            <a:pPr marL="0" indent="0">
              <a:lnSpc>
                <a:spcPts val="1600"/>
              </a:lnSpc>
              <a:buNone/>
            </a:pPr>
            <a:r>
              <a:rPr lang="en-US" sz="1200" dirty="0">
                <a:solidFill>
                  <a:srgbClr val="2C3E50"/>
                </a:solidFill>
              </a:rPr>
              <a:t>Dr. Gassama is a seasoned practitioner with extensive experience in UN peacekeeping field missions, specializing in human rights protection, capacity building, and field-level implementation of international human rights norms. His work in Central African Republic and South Sudan provides firsthand insights into the challenges and opportunities of mainstreaming human rights in peacekeeping operations.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600" b="1" dirty="0">
                <a:solidFill>
                  <a:srgbClr val="065A82"/>
                </a:solidFill>
              </a:rPr>
              <a:t>Slide 1: Introduction and Context</a:t>
            </a:r>
            <a:endParaRPr lang="en-US" sz="3600" dirty="0"/>
          </a:p>
        </p:txBody>
      </p:sp>
      <p:sp>
        <p:nvSpPr>
          <p:cNvPr id="3" name="Shape 1"/>
          <p:cNvSpPr/>
          <p:nvPr/>
        </p:nvSpPr>
        <p:spPr>
          <a:xfrm>
            <a:off x="502920" y="1051560"/>
            <a:ext cx="457200" cy="457200"/>
          </a:xfrm>
          <a:prstGeom prst="ellipse">
            <a:avLst/>
          </a:prstGeom>
          <a:solidFill>
            <a:srgbClr val="1C729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71500" y="1120140"/>
            <a:ext cx="320040" cy="320040"/>
          </a:xfrm>
          <a:prstGeom prst="rect">
            <a:avLst/>
          </a:prstGeom>
        </p:spPr>
      </p:pic>
      <p:sp>
        <p:nvSpPr>
          <p:cNvPr id="5" name="Shape 2"/>
          <p:cNvSpPr/>
          <p:nvPr/>
        </p:nvSpPr>
        <p:spPr>
          <a:xfrm>
            <a:off x="457200" y="1097280"/>
            <a:ext cx="8229600" cy="3291840"/>
          </a:xfrm>
          <a:prstGeom prst="rect">
            <a:avLst/>
          </a:prstGeom>
          <a:solidFill>
            <a:srgbClr val="FFFFFF"/>
          </a:solidFill>
          <a:ln/>
        </p:spPr>
        <p:txBody>
          <a:bodyPr/>
          <a:lstStyle/>
          <a:p>
            <a:endParaRPr lang="en-US"/>
          </a:p>
        </p:txBody>
      </p:sp>
      <p:sp>
        <p:nvSpPr>
          <p:cNvPr id="6" name="Text 3"/>
          <p:cNvSpPr/>
          <p:nvPr/>
        </p:nvSpPr>
        <p:spPr>
          <a:xfrm>
            <a:off x="1097280" y="1280160"/>
            <a:ext cx="7315200" cy="822960"/>
          </a:xfrm>
          <a:prstGeom prst="rect">
            <a:avLst/>
          </a:prstGeom>
          <a:noFill/>
          <a:ln/>
        </p:spPr>
        <p:txBody>
          <a:bodyPr wrap="square" rtlCol="0" anchor="ctr"/>
          <a:lstStyle/>
          <a:p>
            <a:pPr marL="342900" indent="-342900">
              <a:buSzPct val="100000"/>
              <a:buChar char="•"/>
            </a:pPr>
            <a:r>
              <a:rPr lang="en-US" sz="1300" dirty="0">
                <a:solidFill>
                  <a:srgbClr val="2C3E50"/>
                </a:solidFill>
              </a:rPr>
              <a:t>Briefing on the global and geopolitical context and impact at</a:t>
            </a:r>
            <a:endParaRPr lang="en-US" sz="1300" dirty="0"/>
          </a:p>
          <a:p>
            <a:pPr marL="342900" indent="-342900">
              <a:buSzPct val="100000"/>
              <a:buChar char="•"/>
            </a:pPr>
            <a:r>
              <a:rPr lang="en-US" sz="1300" dirty="0">
                <a:solidFill>
                  <a:srgbClr val="2C3E50"/>
                </a:solidFill>
              </a:rPr>
              <a:t>Briefing on the regional context and impact at</a:t>
            </a:r>
            <a:endParaRPr lang="en-US" sz="1300" dirty="0"/>
          </a:p>
          <a:p>
            <a:pPr marL="342900" indent="-342900">
              <a:buSzPct val="100000"/>
              <a:buChar char="•"/>
            </a:pPr>
            <a:r>
              <a:rPr lang="en-US" sz="1300" dirty="0">
                <a:solidFill>
                  <a:srgbClr val="2C3E50"/>
                </a:solidFill>
              </a:rPr>
              <a:t>The local context and impact at community level</a:t>
            </a:r>
            <a:endParaRPr lang="en-US" sz="1300" dirty="0"/>
          </a:p>
        </p:txBody>
      </p:sp>
      <p:sp>
        <p:nvSpPr>
          <p:cNvPr id="7" name="Text 4"/>
          <p:cNvSpPr/>
          <p:nvPr/>
        </p:nvSpPr>
        <p:spPr>
          <a:xfrm>
            <a:off x="640080" y="2286000"/>
            <a:ext cx="7863840" cy="731520"/>
          </a:xfrm>
          <a:prstGeom prst="rect">
            <a:avLst/>
          </a:prstGeom>
          <a:noFill/>
          <a:ln/>
        </p:spPr>
        <p:txBody>
          <a:bodyPr wrap="square" rtlCol="0" anchor="ctr"/>
          <a:lstStyle/>
          <a:p>
            <a:pPr marL="0" indent="0">
              <a:lnSpc>
                <a:spcPts val="1600"/>
              </a:lnSpc>
              <a:buNone/>
            </a:pPr>
            <a:r>
              <a:rPr lang="en-US" sz="1300" dirty="0">
                <a:solidFill>
                  <a:srgbClr val="2C3E50"/>
                </a:solidFill>
              </a:rPr>
              <a:t>Conflicts at national level, though could be matters of internal country affairs, could also trigger or pose threats beyond country political boundaries with dire consequences to regional and global security. This situation calls for regional and global interventions, including the use of multilateral mechanisms.</a:t>
            </a:r>
            <a:endParaRPr lang="en-US" sz="1300" dirty="0"/>
          </a:p>
        </p:txBody>
      </p:sp>
      <p:sp>
        <p:nvSpPr>
          <p:cNvPr id="8" name="Text 5"/>
          <p:cNvSpPr/>
          <p:nvPr/>
        </p:nvSpPr>
        <p:spPr>
          <a:xfrm>
            <a:off x="640080" y="3200400"/>
            <a:ext cx="7863840" cy="274320"/>
          </a:xfrm>
          <a:prstGeom prst="rect">
            <a:avLst/>
          </a:prstGeom>
          <a:noFill/>
          <a:ln/>
        </p:spPr>
        <p:txBody>
          <a:bodyPr wrap="square" rtlCol="0" anchor="ctr"/>
          <a:lstStyle/>
          <a:p>
            <a:pPr marL="0" indent="0">
              <a:buNone/>
            </a:pPr>
            <a:r>
              <a:rPr lang="en-US" sz="1600" b="1" dirty="0">
                <a:solidFill>
                  <a:srgbClr val="1C7293"/>
                </a:solidFill>
              </a:rPr>
              <a:t>Role of the Practitioner:</a:t>
            </a:r>
            <a:endParaRPr lang="en-US" sz="1600" dirty="0"/>
          </a:p>
        </p:txBody>
      </p:sp>
      <p:sp>
        <p:nvSpPr>
          <p:cNvPr id="9" name="Text 6"/>
          <p:cNvSpPr/>
          <p:nvPr/>
        </p:nvSpPr>
        <p:spPr>
          <a:xfrm>
            <a:off x="640080" y="3566160"/>
            <a:ext cx="7863840" cy="640080"/>
          </a:xfrm>
          <a:prstGeom prst="rect">
            <a:avLst/>
          </a:prstGeom>
          <a:noFill/>
          <a:ln/>
        </p:spPr>
        <p:txBody>
          <a:bodyPr wrap="square" rtlCol="0" anchor="ctr"/>
          <a:lstStyle/>
          <a:p>
            <a:pPr marL="0" indent="0">
              <a:lnSpc>
                <a:spcPts val="1500"/>
              </a:lnSpc>
              <a:buNone/>
            </a:pPr>
            <a:r>
              <a:rPr lang="en-US" sz="1200" dirty="0">
                <a:solidFill>
                  <a:srgbClr val="2C3E50"/>
                </a:solidFill>
              </a:rPr>
              <a:t>Practitioners work at the intersection of policy and implementation, translating international human rights norms into field-level action.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000" b="1" dirty="0">
                <a:solidFill>
                  <a:srgbClr val="065A82"/>
                </a:solidFill>
              </a:rPr>
              <a:t>Slide 2: The Human Rights Architecture of the United Nations led Multilateral System</a:t>
            </a:r>
            <a:endParaRPr lang="en-US" sz="3000" dirty="0"/>
          </a:p>
        </p:txBody>
      </p:sp>
      <p:sp>
        <p:nvSpPr>
          <p:cNvPr id="3" name="Shape 1"/>
          <p:cNvSpPr/>
          <p:nvPr/>
        </p:nvSpPr>
        <p:spPr>
          <a:xfrm>
            <a:off x="502920" y="1051560"/>
            <a:ext cx="457200" cy="457200"/>
          </a:xfrm>
          <a:prstGeom prst="ellipse">
            <a:avLst/>
          </a:prstGeom>
          <a:solidFill>
            <a:srgbClr val="1C729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71500" y="1120140"/>
            <a:ext cx="320040" cy="320040"/>
          </a:xfrm>
          <a:prstGeom prst="rect">
            <a:avLst/>
          </a:prstGeom>
        </p:spPr>
      </p:pic>
      <p:sp>
        <p:nvSpPr>
          <p:cNvPr id="5" name="Shape 2"/>
          <p:cNvSpPr/>
          <p:nvPr/>
        </p:nvSpPr>
        <p:spPr>
          <a:xfrm>
            <a:off x="457200" y="1097280"/>
            <a:ext cx="8229600" cy="3291840"/>
          </a:xfrm>
          <a:prstGeom prst="rect">
            <a:avLst/>
          </a:prstGeom>
          <a:solidFill>
            <a:srgbClr val="FFFFFF"/>
          </a:solidFill>
          <a:ln/>
        </p:spPr>
        <p:txBody>
          <a:bodyPr/>
          <a:lstStyle/>
          <a:p>
            <a:endParaRPr lang="en-US"/>
          </a:p>
        </p:txBody>
      </p:sp>
      <p:sp>
        <p:nvSpPr>
          <p:cNvPr id="6" name="Text 3"/>
          <p:cNvSpPr/>
          <p:nvPr/>
        </p:nvSpPr>
        <p:spPr>
          <a:xfrm>
            <a:off x="640080" y="1280160"/>
            <a:ext cx="7863840" cy="640080"/>
          </a:xfrm>
          <a:prstGeom prst="rect">
            <a:avLst/>
          </a:prstGeom>
          <a:noFill/>
          <a:ln/>
        </p:spPr>
        <p:txBody>
          <a:bodyPr wrap="square" rtlCol="0" anchor="ctr"/>
          <a:lstStyle/>
          <a:p>
            <a:pPr marL="0" indent="0">
              <a:lnSpc>
                <a:spcPts val="1400"/>
              </a:lnSpc>
              <a:buNone/>
            </a:pPr>
            <a:r>
              <a:rPr lang="en-US" sz="1100" dirty="0">
                <a:solidFill>
                  <a:srgbClr val="2C3E50"/>
                </a:solidFill>
              </a:rPr>
              <a:t>The UN human rights architecture is one of the main tools in addressing threats to global peace and security at global, regional and national levels, especially through the peacemaking, peacekeeping, and peace building mechanisms and programs of the UN Secretariat, headed by the UN Secretary General.</a:t>
            </a:r>
            <a:endParaRPr lang="en-US" sz="1100" dirty="0"/>
          </a:p>
        </p:txBody>
      </p:sp>
      <p:sp>
        <p:nvSpPr>
          <p:cNvPr id="7" name="Text 4"/>
          <p:cNvSpPr/>
          <p:nvPr/>
        </p:nvSpPr>
        <p:spPr>
          <a:xfrm>
            <a:off x="640080" y="2011680"/>
            <a:ext cx="7863840" cy="1280160"/>
          </a:xfrm>
          <a:prstGeom prst="rect">
            <a:avLst/>
          </a:prstGeom>
          <a:noFill/>
          <a:ln/>
        </p:spPr>
        <p:txBody>
          <a:bodyPr wrap="square" rtlCol="0" anchor="ctr"/>
          <a:lstStyle/>
          <a:p>
            <a:pPr marL="0" indent="0">
              <a:lnSpc>
                <a:spcPts val="1300"/>
              </a:lnSpc>
              <a:buNone/>
            </a:pPr>
            <a:r>
              <a:rPr lang="en-US" sz="1000" b="1" dirty="0">
                <a:solidFill>
                  <a:srgbClr val="2C3E50"/>
                </a:solidFill>
              </a:rPr>
              <a:t>The UN Charter: </a:t>
            </a:r>
            <a:r>
              <a:rPr lang="en-US" sz="1000" dirty="0">
                <a:solidFill>
                  <a:srgbClr val="2C3E50"/>
                </a:solidFill>
              </a:rPr>
              <a:t>adopted in 1945 defines the purpose of the global multilateral system, the values that the system cherishes, the global issues it aims to address, and the mechanisms, processes and institutions to sustain the system.</a:t>
            </a:r>
            <a:endParaRPr lang="en-US" sz="1000" dirty="0"/>
          </a:p>
          <a:p>
            <a:pPr marL="0" indent="0">
              <a:lnSpc>
                <a:spcPts val="1300"/>
              </a:lnSpc>
              <a:buNone/>
            </a:pPr>
            <a:r>
              <a:rPr lang="en-US" sz="1000" b="1" dirty="0">
                <a:solidFill>
                  <a:srgbClr val="2C3E50"/>
                </a:solidFill>
              </a:rPr>
              <a:t>The UN Charter: </a:t>
            </a:r>
            <a:endParaRPr lang="en-US" sz="1000" dirty="0"/>
          </a:p>
          <a:p>
            <a:pPr marL="0" indent="0">
              <a:lnSpc>
                <a:spcPts val="1300"/>
              </a:lnSpc>
              <a:buNone/>
            </a:pPr>
            <a:r>
              <a:rPr lang="en-US" sz="1000" dirty="0">
                <a:solidFill>
                  <a:srgbClr val="2C3E50"/>
                </a:solidFill>
              </a:rPr>
              <a:t>a rule based and value-based system that brings every state or country/nation into its folder or framework.</a:t>
            </a:r>
            <a:endParaRPr lang="en-US" sz="1000" dirty="0"/>
          </a:p>
          <a:p>
            <a:pPr marL="0" indent="0">
              <a:lnSpc>
                <a:spcPts val="1300"/>
              </a:lnSpc>
              <a:buNone/>
            </a:pPr>
            <a:r>
              <a:rPr lang="en-US" sz="1000" b="1" dirty="0">
                <a:solidFill>
                  <a:srgbClr val="2C3E50"/>
                </a:solidFill>
              </a:rPr>
              <a:t>The UN Charter </a:t>
            </a:r>
            <a:endParaRPr lang="en-US" sz="1000" dirty="0"/>
          </a:p>
          <a:p>
            <a:pPr marL="0" indent="0">
              <a:lnSpc>
                <a:spcPts val="1300"/>
              </a:lnSpc>
              <a:buNone/>
            </a:pPr>
            <a:r>
              <a:rPr lang="en-US" sz="1000" dirty="0">
                <a:solidFill>
                  <a:srgbClr val="2C3E50"/>
                </a:solidFill>
              </a:rPr>
              <a:t>also defines the human rights agenda of the multilateral system especially in addressing peace and security agenda.</a:t>
            </a:r>
            <a:endParaRPr lang="en-US" sz="1000" dirty="0"/>
          </a:p>
          <a:p>
            <a:pPr marL="0" indent="0">
              <a:lnSpc>
                <a:spcPts val="1300"/>
              </a:lnSpc>
              <a:buNone/>
            </a:pPr>
            <a:r>
              <a:rPr lang="en-US" sz="1000" b="1" dirty="0">
                <a:solidFill>
                  <a:srgbClr val="2C3E50"/>
                </a:solidFill>
              </a:rPr>
              <a:t>Declarations and Conventions: </a:t>
            </a:r>
            <a:endParaRPr lang="en-US" sz="1000" dirty="0"/>
          </a:p>
          <a:p>
            <a:pPr marL="0" indent="0">
              <a:lnSpc>
                <a:spcPts val="1300"/>
              </a:lnSpc>
              <a:buNone/>
            </a:pPr>
            <a:r>
              <a:rPr lang="en-US" sz="1000" dirty="0">
                <a:solidFill>
                  <a:srgbClr val="2C3E50"/>
                </a:solidFill>
              </a:rPr>
              <a:t>declarations, conventions, politically and or legally binding member states to adhere to human rights principles, standards, norms, and practice.</a:t>
            </a:r>
            <a:endParaRPr lang="en-US" sz="1000" dirty="0"/>
          </a:p>
        </p:txBody>
      </p:sp>
      <p:sp>
        <p:nvSpPr>
          <p:cNvPr id="8" name="Text 5"/>
          <p:cNvSpPr/>
          <p:nvPr/>
        </p:nvSpPr>
        <p:spPr>
          <a:xfrm>
            <a:off x="640080" y="3383280"/>
            <a:ext cx="7863840" cy="822960"/>
          </a:xfrm>
          <a:prstGeom prst="rect">
            <a:avLst/>
          </a:prstGeom>
          <a:noFill/>
          <a:ln/>
        </p:spPr>
        <p:txBody>
          <a:bodyPr wrap="square" rtlCol="0" anchor="ctr"/>
          <a:lstStyle/>
          <a:p>
            <a:pPr marL="342900" indent="-342900">
              <a:buSzPct val="100000"/>
              <a:buChar char="•"/>
            </a:pPr>
            <a:r>
              <a:rPr lang="en-US" sz="900" dirty="0">
                <a:solidFill>
                  <a:srgbClr val="2C3E50"/>
                </a:solidFill>
              </a:rPr>
              <a:t>UN Security Council Mandate, Structures, Composition, Processes-Decision-making, and Dynamics</a:t>
            </a:r>
            <a:endParaRPr lang="en-US" sz="900" dirty="0"/>
          </a:p>
          <a:p>
            <a:pPr marL="342900" indent="-342900">
              <a:buSzPct val="100000"/>
              <a:buChar char="•"/>
            </a:pPr>
            <a:r>
              <a:rPr lang="en-US" sz="900" dirty="0">
                <a:solidFill>
                  <a:srgbClr val="2C3E50"/>
                </a:solidFill>
              </a:rPr>
              <a:t>UN General Assembly Mandate, Structures, Composition, Processes-Decision-making, and Dynamics</a:t>
            </a:r>
            <a:endParaRPr lang="en-US" sz="900" dirty="0"/>
          </a:p>
          <a:p>
            <a:pPr marL="342900" indent="-342900">
              <a:buSzPct val="100000"/>
              <a:buChar char="•"/>
            </a:pPr>
            <a:r>
              <a:rPr lang="en-US" sz="900" dirty="0">
                <a:solidFill>
                  <a:srgbClr val="2C3E50"/>
                </a:solidFill>
              </a:rPr>
              <a:t>UN Human Rights Council Mandate, Structures, Composition, Processes-Decision-making, and Dynamics</a:t>
            </a:r>
            <a:endParaRPr lang="en-US" sz="900" dirty="0"/>
          </a:p>
          <a:p>
            <a:pPr marL="342900" indent="-342900">
              <a:buSzPct val="100000"/>
              <a:buChar char="•"/>
            </a:pPr>
            <a:r>
              <a:rPr lang="en-US" sz="900" dirty="0">
                <a:solidFill>
                  <a:srgbClr val="2C3E50"/>
                </a:solidFill>
              </a:rPr>
              <a:t>Mandate Implementing Organs: UN Secretariat Mandate, Structures, Composition, Processes-Decision-making, and Dynamics</a:t>
            </a:r>
            <a:endParaRPr lang="en-US" sz="900" dirty="0"/>
          </a:p>
          <a:p>
            <a:pPr marL="342900" indent="-342900">
              <a:buSzPct val="100000"/>
              <a:buChar char="•"/>
            </a:pPr>
            <a:r>
              <a:rPr lang="en-US" sz="900" dirty="0">
                <a:solidFill>
                  <a:srgbClr val="2C3E50"/>
                </a:solidFill>
              </a:rPr>
              <a:t>Other UN Special Mechanisms on Human Rights</a:t>
            </a:r>
            <a:endParaRPr lang="en-US" sz="900" dirty="0"/>
          </a:p>
          <a:p>
            <a:pPr marL="342900" indent="-342900">
              <a:buSzPct val="100000"/>
              <a:buChar char="•"/>
            </a:pPr>
            <a:r>
              <a:rPr lang="en-US" sz="900" dirty="0">
                <a:solidFill>
                  <a:srgbClr val="2C3E50"/>
                </a:solidFill>
              </a:rPr>
              <a:t>Connections with regional mechanisms</a:t>
            </a:r>
            <a:endParaRPr lang="en-US" sz="900" dirty="0"/>
          </a:p>
          <a:p>
            <a:pPr marL="342900" indent="-342900">
              <a:buSzPct val="100000"/>
              <a:buChar char="•"/>
            </a:pPr>
            <a:r>
              <a:rPr lang="en-US" sz="900" dirty="0">
                <a:solidFill>
                  <a:srgbClr val="2C3E50"/>
                </a:solidFill>
              </a:rPr>
              <a:t>Connections with national level Human Rights Architectures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2800" b="1" dirty="0">
                <a:solidFill>
                  <a:srgbClr val="065A82"/>
                </a:solidFill>
              </a:rPr>
              <a:t>Slide 3: The Action: Mainstreaming/Integration of Human Rights Agenda in UN Peacekeeping Field Missions</a:t>
            </a:r>
            <a:endParaRPr lang="en-US" sz="2800" dirty="0"/>
          </a:p>
        </p:txBody>
      </p:sp>
      <p:sp>
        <p:nvSpPr>
          <p:cNvPr id="3" name="Shape 1"/>
          <p:cNvSpPr/>
          <p:nvPr/>
        </p:nvSpPr>
        <p:spPr>
          <a:xfrm>
            <a:off x="502920" y="1143000"/>
            <a:ext cx="457200" cy="457200"/>
          </a:xfrm>
          <a:prstGeom prst="ellipse">
            <a:avLst/>
          </a:prstGeom>
          <a:solidFill>
            <a:srgbClr val="1C729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71500" y="1211580"/>
            <a:ext cx="320040" cy="320040"/>
          </a:xfrm>
          <a:prstGeom prst="rect">
            <a:avLst/>
          </a:prstGeom>
        </p:spPr>
      </p:pic>
      <p:sp>
        <p:nvSpPr>
          <p:cNvPr id="5" name="Shape 2"/>
          <p:cNvSpPr/>
          <p:nvPr/>
        </p:nvSpPr>
        <p:spPr>
          <a:xfrm>
            <a:off x="457200" y="1188720"/>
            <a:ext cx="3931920" cy="3200400"/>
          </a:xfrm>
          <a:prstGeom prst="rect">
            <a:avLst/>
          </a:prstGeom>
          <a:solidFill>
            <a:srgbClr val="FFFFFF"/>
          </a:solidFill>
          <a:ln/>
        </p:spPr>
        <p:txBody>
          <a:bodyPr/>
          <a:lstStyle/>
          <a:p>
            <a:endParaRPr lang="en-US"/>
          </a:p>
        </p:txBody>
      </p:sp>
      <p:sp>
        <p:nvSpPr>
          <p:cNvPr id="6" name="Shape 3"/>
          <p:cNvSpPr/>
          <p:nvPr/>
        </p:nvSpPr>
        <p:spPr>
          <a:xfrm>
            <a:off x="457200" y="1188720"/>
            <a:ext cx="3931920" cy="73152"/>
          </a:xfrm>
          <a:prstGeom prst="rect">
            <a:avLst/>
          </a:prstGeom>
          <a:solidFill>
            <a:srgbClr val="21295C"/>
          </a:solidFill>
          <a:ln/>
        </p:spPr>
        <p:txBody>
          <a:bodyPr/>
          <a:lstStyle/>
          <a:p>
            <a:endParaRPr lang="en-US"/>
          </a:p>
        </p:txBody>
      </p:sp>
      <p:sp>
        <p:nvSpPr>
          <p:cNvPr id="7" name="Text 4"/>
          <p:cNvSpPr/>
          <p:nvPr/>
        </p:nvSpPr>
        <p:spPr>
          <a:xfrm>
            <a:off x="640080" y="1463040"/>
            <a:ext cx="3566160" cy="365760"/>
          </a:xfrm>
          <a:prstGeom prst="rect">
            <a:avLst/>
          </a:prstGeom>
          <a:noFill/>
          <a:ln/>
        </p:spPr>
        <p:txBody>
          <a:bodyPr wrap="square" rtlCol="0" anchor="ctr"/>
          <a:lstStyle/>
          <a:p>
            <a:pPr marL="0" indent="0">
              <a:buNone/>
            </a:pPr>
            <a:r>
              <a:rPr lang="en-US" sz="2000" b="1" dirty="0">
                <a:solidFill>
                  <a:srgbClr val="065A82"/>
                </a:solidFill>
              </a:rPr>
              <a:t>Central African Republic</a:t>
            </a:r>
            <a:endParaRPr lang="en-US" sz="2000" dirty="0"/>
          </a:p>
        </p:txBody>
      </p:sp>
      <p:sp>
        <p:nvSpPr>
          <p:cNvPr id="8" name="Text 5"/>
          <p:cNvSpPr/>
          <p:nvPr/>
        </p:nvSpPr>
        <p:spPr>
          <a:xfrm>
            <a:off x="640080" y="1920240"/>
            <a:ext cx="3566160" cy="2286000"/>
          </a:xfrm>
          <a:prstGeom prst="rect">
            <a:avLst/>
          </a:prstGeom>
          <a:noFill/>
          <a:ln/>
        </p:spPr>
        <p:txBody>
          <a:bodyPr wrap="square" rtlCol="0" anchor="ctr"/>
          <a:lstStyle/>
          <a:p>
            <a:pPr marL="0" indent="0">
              <a:lnSpc>
                <a:spcPts val="1600"/>
              </a:lnSpc>
              <a:buNone/>
            </a:pPr>
            <a:r>
              <a:rPr lang="en-US" sz="1200" dirty="0">
                <a:solidFill>
                  <a:srgbClr val="2C3E50"/>
                </a:solidFill>
              </a:rPr>
              <a:t>MINUSCA (United Nations Multidimensional Integrated Stabilization Mission) operates in a context of ongoing conflict, sectarian violence, and humanitarian crisis. Human rights components monitor violations, support transitional justice, and work with local communities to prevent atrocities.</a:t>
            </a:r>
            <a:endParaRPr lang="en-US" sz="1200" dirty="0"/>
          </a:p>
        </p:txBody>
      </p:sp>
      <p:sp>
        <p:nvSpPr>
          <p:cNvPr id="9" name="Shape 6"/>
          <p:cNvSpPr/>
          <p:nvPr/>
        </p:nvSpPr>
        <p:spPr>
          <a:xfrm>
            <a:off x="4754880" y="1188720"/>
            <a:ext cx="3931920" cy="3200400"/>
          </a:xfrm>
          <a:prstGeom prst="rect">
            <a:avLst/>
          </a:prstGeom>
          <a:solidFill>
            <a:srgbClr val="FFFFFF"/>
          </a:solidFill>
          <a:ln/>
        </p:spPr>
        <p:txBody>
          <a:bodyPr/>
          <a:lstStyle/>
          <a:p>
            <a:endParaRPr lang="en-US"/>
          </a:p>
        </p:txBody>
      </p:sp>
      <p:sp>
        <p:nvSpPr>
          <p:cNvPr id="10" name="Shape 7"/>
          <p:cNvSpPr/>
          <p:nvPr/>
        </p:nvSpPr>
        <p:spPr>
          <a:xfrm>
            <a:off x="4754880" y="1188720"/>
            <a:ext cx="3931920" cy="73152"/>
          </a:xfrm>
          <a:prstGeom prst="rect">
            <a:avLst/>
          </a:prstGeom>
          <a:solidFill>
            <a:srgbClr val="21295C"/>
          </a:solidFill>
          <a:ln/>
        </p:spPr>
        <p:txBody>
          <a:bodyPr/>
          <a:lstStyle/>
          <a:p>
            <a:endParaRPr lang="en-US"/>
          </a:p>
        </p:txBody>
      </p:sp>
      <p:sp>
        <p:nvSpPr>
          <p:cNvPr id="11" name="Text 8"/>
          <p:cNvSpPr/>
          <p:nvPr/>
        </p:nvSpPr>
        <p:spPr>
          <a:xfrm>
            <a:off x="4937760" y="1463040"/>
            <a:ext cx="3566160" cy="365760"/>
          </a:xfrm>
          <a:prstGeom prst="rect">
            <a:avLst/>
          </a:prstGeom>
          <a:noFill/>
          <a:ln/>
        </p:spPr>
        <p:txBody>
          <a:bodyPr wrap="square" rtlCol="0" anchor="ctr"/>
          <a:lstStyle/>
          <a:p>
            <a:pPr marL="0" indent="0">
              <a:buNone/>
            </a:pPr>
            <a:r>
              <a:rPr lang="en-US" sz="2000" b="1" dirty="0">
                <a:solidFill>
                  <a:srgbClr val="065A82"/>
                </a:solidFill>
              </a:rPr>
              <a:t>South Sudan</a:t>
            </a:r>
            <a:endParaRPr lang="en-US" sz="2000" dirty="0"/>
          </a:p>
        </p:txBody>
      </p:sp>
      <p:sp>
        <p:nvSpPr>
          <p:cNvPr id="12" name="Text 9"/>
          <p:cNvSpPr/>
          <p:nvPr/>
        </p:nvSpPr>
        <p:spPr>
          <a:xfrm>
            <a:off x="4937760" y="1920240"/>
            <a:ext cx="3566160" cy="2286000"/>
          </a:xfrm>
          <a:prstGeom prst="rect">
            <a:avLst/>
          </a:prstGeom>
          <a:noFill/>
          <a:ln/>
        </p:spPr>
        <p:txBody>
          <a:bodyPr wrap="square" rtlCol="0" anchor="ctr"/>
          <a:lstStyle/>
          <a:p>
            <a:pPr marL="0" indent="0">
              <a:lnSpc>
                <a:spcPts val="1600"/>
              </a:lnSpc>
              <a:buNone/>
            </a:pPr>
            <a:r>
              <a:rPr lang="en-US" sz="1200" dirty="0">
                <a:solidFill>
                  <a:srgbClr val="2C3E50"/>
                </a:solidFill>
              </a:rPr>
              <a:t>UNMISS (United Nations Mission in South Sudan) addresses protection of civilians in a context of civil war, ethnic violence, and displacement. The mission's human rights work includes early warning systems, civilian protection sites, and advocacy for accountability.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200" b="1" dirty="0">
                <a:solidFill>
                  <a:srgbClr val="065A82"/>
                </a:solidFill>
              </a:rPr>
              <a:t>Slide 4: Application of International Human Rights Norms at Field Level</a:t>
            </a:r>
            <a:endParaRPr lang="en-US" sz="3200" dirty="0"/>
          </a:p>
        </p:txBody>
      </p:sp>
      <p:sp>
        <p:nvSpPr>
          <p:cNvPr id="3" name="Shape 1"/>
          <p:cNvSpPr/>
          <p:nvPr/>
        </p:nvSpPr>
        <p:spPr>
          <a:xfrm>
            <a:off x="502920" y="1051560"/>
            <a:ext cx="457200" cy="457200"/>
          </a:xfrm>
          <a:prstGeom prst="ellipse">
            <a:avLst/>
          </a:prstGeom>
          <a:solidFill>
            <a:srgbClr val="1C729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71500" y="1120140"/>
            <a:ext cx="320040" cy="320040"/>
          </a:xfrm>
          <a:prstGeom prst="rect">
            <a:avLst/>
          </a:prstGeom>
        </p:spPr>
      </p:pic>
      <p:sp>
        <p:nvSpPr>
          <p:cNvPr id="5" name="Shape 2"/>
          <p:cNvSpPr/>
          <p:nvPr/>
        </p:nvSpPr>
        <p:spPr>
          <a:xfrm>
            <a:off x="457200" y="1097280"/>
            <a:ext cx="8229600" cy="3291840"/>
          </a:xfrm>
          <a:prstGeom prst="rect">
            <a:avLst/>
          </a:prstGeom>
          <a:solidFill>
            <a:srgbClr val="FFFFFF"/>
          </a:solidFill>
          <a:ln/>
        </p:spPr>
        <p:txBody>
          <a:bodyPr/>
          <a:lstStyle/>
          <a:p>
            <a:endParaRPr lang="en-US"/>
          </a:p>
        </p:txBody>
      </p:sp>
      <p:sp>
        <p:nvSpPr>
          <p:cNvPr id="6" name="Text 3"/>
          <p:cNvSpPr/>
          <p:nvPr/>
        </p:nvSpPr>
        <p:spPr>
          <a:xfrm>
            <a:off x="1097280" y="1280160"/>
            <a:ext cx="7315200" cy="457200"/>
          </a:xfrm>
          <a:prstGeom prst="rect">
            <a:avLst/>
          </a:prstGeom>
          <a:noFill/>
          <a:ln/>
        </p:spPr>
        <p:txBody>
          <a:bodyPr wrap="square" rtlCol="0" anchor="ctr"/>
          <a:lstStyle/>
          <a:p>
            <a:pPr marL="0" indent="0">
              <a:buNone/>
            </a:pPr>
            <a:r>
              <a:rPr lang="en-US" sz="1400" b="1" dirty="0">
                <a:solidFill>
                  <a:srgbClr val="1C7293"/>
                </a:solidFill>
              </a:rPr>
              <a:t>Human Rights Mandate Implementation (Human Rights Components in Peacekeeping Field Missions)</a:t>
            </a:r>
            <a:endParaRPr lang="en-US" sz="1400" dirty="0"/>
          </a:p>
        </p:txBody>
      </p:sp>
      <p:sp>
        <p:nvSpPr>
          <p:cNvPr id="7" name="Text 4"/>
          <p:cNvSpPr/>
          <p:nvPr/>
        </p:nvSpPr>
        <p:spPr>
          <a:xfrm>
            <a:off x="640080" y="1828800"/>
            <a:ext cx="7863840" cy="274320"/>
          </a:xfrm>
          <a:prstGeom prst="rect">
            <a:avLst/>
          </a:prstGeom>
          <a:noFill/>
          <a:ln/>
        </p:spPr>
        <p:txBody>
          <a:bodyPr wrap="square" rtlCol="0" anchor="ctr"/>
          <a:lstStyle/>
          <a:p>
            <a:pPr marL="0" indent="0">
              <a:buNone/>
            </a:pPr>
            <a:r>
              <a:rPr lang="en-US" sz="1400" b="1" dirty="0">
                <a:solidFill>
                  <a:srgbClr val="065A82"/>
                </a:solidFill>
              </a:rPr>
              <a:t>Methodology and Techniques and Approaches</a:t>
            </a:r>
            <a:endParaRPr lang="en-US" sz="1400" dirty="0"/>
          </a:p>
        </p:txBody>
      </p:sp>
      <p:sp>
        <p:nvSpPr>
          <p:cNvPr id="8" name="Text 5"/>
          <p:cNvSpPr/>
          <p:nvPr/>
        </p:nvSpPr>
        <p:spPr>
          <a:xfrm>
            <a:off x="640080" y="2194560"/>
            <a:ext cx="7863840" cy="914400"/>
          </a:xfrm>
          <a:prstGeom prst="rect">
            <a:avLst/>
          </a:prstGeom>
          <a:noFill/>
          <a:ln/>
        </p:spPr>
        <p:txBody>
          <a:bodyPr wrap="square" rtlCol="0" anchor="ctr"/>
          <a:lstStyle/>
          <a:p>
            <a:pPr marL="342900" indent="-342900">
              <a:buSzPct val="100000"/>
              <a:buChar char="•"/>
            </a:pPr>
            <a:r>
              <a:rPr lang="en-US" sz="1300" dirty="0">
                <a:solidFill>
                  <a:srgbClr val="2C3E50"/>
                </a:solidFill>
              </a:rPr>
              <a:t>Evidence Based/Data Driven Early Warning for the Protection of Civilians</a:t>
            </a:r>
            <a:endParaRPr lang="en-US" sz="1300" dirty="0"/>
          </a:p>
          <a:p>
            <a:pPr marL="342900" indent="-342900">
              <a:buSzPct val="100000"/>
              <a:buChar char="•"/>
            </a:pPr>
            <a:r>
              <a:rPr lang="en-US" sz="1300" dirty="0">
                <a:solidFill>
                  <a:srgbClr val="2C3E50"/>
                </a:solidFill>
              </a:rPr>
              <a:t>Technical Assistance, Advisory Services, and Capacity Building</a:t>
            </a:r>
            <a:endParaRPr lang="en-US" sz="1300" dirty="0"/>
          </a:p>
          <a:p>
            <a:pPr marL="342900" indent="-342900">
              <a:buSzPct val="100000"/>
              <a:buChar char="•"/>
            </a:pPr>
            <a:r>
              <a:rPr lang="en-US" sz="1300" dirty="0">
                <a:solidFill>
                  <a:srgbClr val="2C3E50"/>
                </a:solidFill>
              </a:rPr>
              <a:t>Other related Issues- Sanctions on Arms Embargo</a:t>
            </a:r>
            <a:endParaRPr lang="en-US" sz="1300" dirty="0"/>
          </a:p>
        </p:txBody>
      </p:sp>
      <p:sp>
        <p:nvSpPr>
          <p:cNvPr id="9" name="Text 6"/>
          <p:cNvSpPr/>
          <p:nvPr/>
        </p:nvSpPr>
        <p:spPr>
          <a:xfrm>
            <a:off x="640080" y="3291840"/>
            <a:ext cx="7863840" cy="914400"/>
          </a:xfrm>
          <a:prstGeom prst="rect">
            <a:avLst/>
          </a:prstGeom>
          <a:noFill/>
          <a:ln/>
        </p:spPr>
        <p:txBody>
          <a:bodyPr wrap="square" rtlCol="0" anchor="ctr"/>
          <a:lstStyle/>
          <a:p>
            <a:pPr marL="0" indent="0">
              <a:lnSpc>
                <a:spcPts val="1500"/>
              </a:lnSpc>
              <a:buNone/>
            </a:pPr>
            <a:r>
              <a:rPr lang="en-US" sz="1200" dirty="0">
                <a:solidFill>
                  <a:srgbClr val="2C3E50"/>
                </a:solidFill>
              </a:rPr>
              <a:t>Field-level implementation employs evidence-based monitoring, data collection, analysis, and reporting on human rights violations. Practitioners use standardized methodologies adapted to local contexts, ensuring credibility and accountability in conflict environments.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200" b="1" dirty="0">
                <a:solidFill>
                  <a:srgbClr val="065A82"/>
                </a:solidFill>
              </a:rPr>
              <a:t>Slide 5: Challenges/Threats and weaknesses of the Multilateral System</a:t>
            </a:r>
            <a:endParaRPr lang="en-US" sz="3200" dirty="0"/>
          </a:p>
        </p:txBody>
      </p:sp>
      <p:sp>
        <p:nvSpPr>
          <p:cNvPr id="3" name="Shape 1"/>
          <p:cNvSpPr/>
          <p:nvPr/>
        </p:nvSpPr>
        <p:spPr>
          <a:xfrm>
            <a:off x="502920" y="1051560"/>
            <a:ext cx="457200" cy="457200"/>
          </a:xfrm>
          <a:prstGeom prst="ellipse">
            <a:avLst/>
          </a:prstGeom>
          <a:solidFill>
            <a:srgbClr val="1C729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71500" y="1120140"/>
            <a:ext cx="320040" cy="320040"/>
          </a:xfrm>
          <a:prstGeom prst="rect">
            <a:avLst/>
          </a:prstGeom>
        </p:spPr>
      </p:pic>
      <p:sp>
        <p:nvSpPr>
          <p:cNvPr id="5" name="Shape 2"/>
          <p:cNvSpPr/>
          <p:nvPr/>
        </p:nvSpPr>
        <p:spPr>
          <a:xfrm>
            <a:off x="457200" y="1097280"/>
            <a:ext cx="8229600" cy="3291840"/>
          </a:xfrm>
          <a:prstGeom prst="rect">
            <a:avLst/>
          </a:prstGeom>
          <a:solidFill>
            <a:srgbClr val="FFFFFF"/>
          </a:solidFill>
          <a:ln/>
        </p:spPr>
        <p:txBody>
          <a:bodyPr/>
          <a:lstStyle/>
          <a:p>
            <a:endParaRPr lang="en-US"/>
          </a:p>
        </p:txBody>
      </p:sp>
      <p:sp>
        <p:nvSpPr>
          <p:cNvPr id="6" name="Text 3"/>
          <p:cNvSpPr/>
          <p:nvPr/>
        </p:nvSpPr>
        <p:spPr>
          <a:xfrm>
            <a:off x="1097280" y="1371600"/>
            <a:ext cx="7315200" cy="2286000"/>
          </a:xfrm>
          <a:prstGeom prst="rect">
            <a:avLst/>
          </a:prstGeom>
          <a:noFill/>
          <a:ln/>
        </p:spPr>
        <p:txBody>
          <a:bodyPr wrap="square" rtlCol="0" anchor="ctr"/>
          <a:lstStyle/>
          <a:p>
            <a:pPr marL="342900" indent="-342900">
              <a:buSzPct val="100000"/>
              <a:buChar char="•"/>
            </a:pPr>
            <a:r>
              <a:rPr lang="en-US" sz="1600" dirty="0">
                <a:solidFill>
                  <a:srgbClr val="2C3E50"/>
                </a:solidFill>
              </a:rPr>
              <a:t>Geopolitical Dynamics</a:t>
            </a:r>
            <a:endParaRPr lang="en-US" sz="1600" dirty="0"/>
          </a:p>
          <a:p>
            <a:pPr marL="342900" indent="-342900">
              <a:buSzPct val="100000"/>
              <a:buChar char="•"/>
            </a:pPr>
            <a:r>
              <a:rPr lang="en-US" sz="1600" dirty="0">
                <a:solidFill>
                  <a:srgbClr val="2C3E50"/>
                </a:solidFill>
              </a:rPr>
              <a:t>Regional Dynamics</a:t>
            </a:r>
            <a:endParaRPr lang="en-US" sz="1600" dirty="0"/>
          </a:p>
          <a:p>
            <a:pPr marL="342900" indent="-342900">
              <a:buSzPct val="100000"/>
              <a:buChar char="•"/>
            </a:pPr>
            <a:r>
              <a:rPr lang="en-US" sz="1600" dirty="0">
                <a:solidFill>
                  <a:srgbClr val="2C3E50"/>
                </a:solidFill>
              </a:rPr>
              <a:t>Security dynamics</a:t>
            </a:r>
            <a:endParaRPr lang="en-US" sz="1600" dirty="0"/>
          </a:p>
          <a:p>
            <a:pPr marL="342900" indent="-342900">
              <a:buSzPct val="100000"/>
              <a:buChar char="•"/>
            </a:pPr>
            <a:r>
              <a:rPr lang="en-US" sz="1600" dirty="0">
                <a:solidFill>
                  <a:srgbClr val="2C3E50"/>
                </a:solidFill>
              </a:rPr>
              <a:t>Political dynamics</a:t>
            </a:r>
            <a:endParaRPr lang="en-US" sz="1600" dirty="0"/>
          </a:p>
          <a:p>
            <a:pPr marL="342900" indent="-342900">
              <a:buSzPct val="100000"/>
              <a:buChar char="•"/>
            </a:pPr>
            <a:r>
              <a:rPr lang="en-US" sz="1600" dirty="0">
                <a:solidFill>
                  <a:srgbClr val="2C3E50"/>
                </a:solidFill>
              </a:rPr>
              <a:t>National level dynamics</a:t>
            </a:r>
            <a:endParaRPr lang="en-US" sz="1600" dirty="0"/>
          </a:p>
          <a:p>
            <a:pPr marL="342900" indent="-342900">
              <a:buSzPct val="100000"/>
              <a:buChar char="•"/>
            </a:pPr>
            <a:r>
              <a:rPr lang="en-US" sz="1600" dirty="0">
                <a:solidFill>
                  <a:srgbClr val="2C3E50"/>
                </a:solidFill>
              </a:rPr>
              <a:t>Local level dynamics</a:t>
            </a:r>
            <a:endParaRPr lang="en-US" sz="1600" dirty="0"/>
          </a:p>
          <a:p>
            <a:pPr marL="342900" indent="-342900">
              <a:buSzPct val="100000"/>
              <a:buChar char="•"/>
            </a:pPr>
            <a:r>
              <a:rPr lang="en-US" sz="1600" dirty="0">
                <a:solidFill>
                  <a:srgbClr val="2C3E50"/>
                </a:solidFill>
              </a:rPr>
              <a:t>State and non-state Actors Dynamics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2800" b="1" dirty="0">
                <a:solidFill>
                  <a:srgbClr val="065A82"/>
                </a:solidFill>
              </a:rPr>
              <a:t>Slide 6: Addressing the Challenges</a:t>
            </a:r>
            <a:endParaRPr lang="en-US" sz="2800" dirty="0"/>
          </a:p>
        </p:txBody>
      </p:sp>
      <p:sp>
        <p:nvSpPr>
          <p:cNvPr id="3" name="Shape 1"/>
          <p:cNvSpPr/>
          <p:nvPr/>
        </p:nvSpPr>
        <p:spPr>
          <a:xfrm>
            <a:off x="502920" y="1051560"/>
            <a:ext cx="457200" cy="457200"/>
          </a:xfrm>
          <a:prstGeom prst="ellipse">
            <a:avLst/>
          </a:prstGeom>
          <a:solidFill>
            <a:srgbClr val="1C729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71500" y="1120140"/>
            <a:ext cx="320040" cy="320040"/>
          </a:xfrm>
          <a:prstGeom prst="rect">
            <a:avLst/>
          </a:prstGeom>
        </p:spPr>
      </p:pic>
      <p:sp>
        <p:nvSpPr>
          <p:cNvPr id="5" name="Shape 2"/>
          <p:cNvSpPr/>
          <p:nvPr/>
        </p:nvSpPr>
        <p:spPr>
          <a:xfrm>
            <a:off x="411480" y="925830"/>
            <a:ext cx="8229600" cy="3291840"/>
          </a:xfrm>
          <a:prstGeom prst="rect">
            <a:avLst/>
          </a:prstGeom>
          <a:solidFill>
            <a:srgbClr val="FFFFFF"/>
          </a:solidFill>
          <a:ln/>
        </p:spPr>
        <p:txBody>
          <a:bodyPr/>
          <a:lstStyle/>
          <a:p>
            <a:endParaRPr lang="en-US"/>
          </a:p>
        </p:txBody>
      </p:sp>
      <p:sp>
        <p:nvSpPr>
          <p:cNvPr id="6" name="Text 3"/>
          <p:cNvSpPr/>
          <p:nvPr/>
        </p:nvSpPr>
        <p:spPr>
          <a:xfrm>
            <a:off x="1097280" y="1371600"/>
            <a:ext cx="7315200" cy="731520"/>
          </a:xfrm>
          <a:prstGeom prst="rect">
            <a:avLst/>
          </a:prstGeom>
          <a:noFill/>
          <a:ln/>
        </p:spPr>
        <p:txBody>
          <a:bodyPr wrap="square" rtlCol="0" anchor="ctr"/>
          <a:lstStyle/>
          <a:p>
            <a:pPr marL="0" indent="0">
              <a:buNone/>
            </a:pPr>
            <a:r>
              <a:rPr lang="en-US" sz="1600" b="1" dirty="0">
                <a:solidFill>
                  <a:srgbClr val="1C7293"/>
                </a:solidFill>
              </a:rPr>
              <a:t>Suggestions on Enhancing the Use of the United Nations led Multilateral System to Address Human Rights Issues in conflict Situations</a:t>
            </a:r>
            <a:endParaRPr lang="en-US" sz="1600" dirty="0"/>
          </a:p>
        </p:txBody>
      </p:sp>
      <p:sp>
        <p:nvSpPr>
          <p:cNvPr id="7" name="Text 4"/>
          <p:cNvSpPr/>
          <p:nvPr/>
        </p:nvSpPr>
        <p:spPr>
          <a:xfrm>
            <a:off x="640080" y="2286000"/>
            <a:ext cx="7863840" cy="1828800"/>
          </a:xfrm>
          <a:prstGeom prst="rect">
            <a:avLst/>
          </a:prstGeom>
          <a:noFill/>
          <a:ln/>
        </p:spPr>
        <p:txBody>
          <a:bodyPr wrap="square" rtlCol="0" anchor="ctr"/>
          <a:lstStyle/>
          <a:p>
            <a:pPr marL="0" indent="0">
              <a:lnSpc>
                <a:spcPts val="1700"/>
              </a:lnSpc>
              <a:buNone/>
            </a:pPr>
            <a:r>
              <a:rPr lang="en-US" sz="1300" dirty="0">
                <a:solidFill>
                  <a:srgbClr val="2C3E50"/>
                </a:solidFill>
              </a:rPr>
              <a:t>The multilateral system can be strengthened through increased resources for field operations, enhanced coordination between UN organs and regional mechanisms, reform of Security Council decision-making processes, investment in prevention and early warning systems, capacity building for national institutions, and stronger accountability mechanisms for investigating and prosecuting human rights violations in conflict zones.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lIns="0" tIns="0" rIns="0" bIns="0" rtlCol="0" anchor="ctr"/>
          <a:lstStyle/>
          <a:p>
            <a:pPr marL="0" indent="0">
              <a:buNone/>
            </a:pPr>
            <a:r>
              <a:rPr lang="en-US" sz="3200" b="1" dirty="0">
                <a:solidFill>
                  <a:srgbClr val="065A82"/>
                </a:solidFill>
              </a:rPr>
              <a:t>Slide 7: List of Sources/References for In-depth Research</a:t>
            </a:r>
            <a:endParaRPr lang="en-US" sz="3200" dirty="0"/>
          </a:p>
        </p:txBody>
      </p:sp>
      <p:sp>
        <p:nvSpPr>
          <p:cNvPr id="3" name="Shape 1"/>
          <p:cNvSpPr/>
          <p:nvPr/>
        </p:nvSpPr>
        <p:spPr>
          <a:xfrm>
            <a:off x="502920" y="1051560"/>
            <a:ext cx="457200" cy="457200"/>
          </a:xfrm>
          <a:prstGeom prst="ellipse">
            <a:avLst/>
          </a:prstGeom>
          <a:solidFill>
            <a:srgbClr val="1C7293"/>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571500" y="1120140"/>
            <a:ext cx="320040" cy="320040"/>
          </a:xfrm>
          <a:prstGeom prst="rect">
            <a:avLst/>
          </a:prstGeom>
        </p:spPr>
      </p:pic>
      <p:sp>
        <p:nvSpPr>
          <p:cNvPr id="5" name="Shape 2"/>
          <p:cNvSpPr/>
          <p:nvPr/>
        </p:nvSpPr>
        <p:spPr>
          <a:xfrm>
            <a:off x="457200" y="1097280"/>
            <a:ext cx="8229600" cy="3291840"/>
          </a:xfrm>
          <a:prstGeom prst="rect">
            <a:avLst/>
          </a:prstGeom>
          <a:solidFill>
            <a:srgbClr val="FFFFFF"/>
          </a:solidFill>
          <a:ln/>
        </p:spPr>
        <p:txBody>
          <a:bodyPr/>
          <a:lstStyle/>
          <a:p>
            <a:endParaRPr lang="en-US"/>
          </a:p>
        </p:txBody>
      </p:sp>
      <p:sp>
        <p:nvSpPr>
          <p:cNvPr id="6" name="Text 3"/>
          <p:cNvSpPr/>
          <p:nvPr/>
        </p:nvSpPr>
        <p:spPr>
          <a:xfrm>
            <a:off x="1097280" y="1371600"/>
            <a:ext cx="7315200" cy="274320"/>
          </a:xfrm>
          <a:prstGeom prst="rect">
            <a:avLst/>
          </a:prstGeom>
          <a:noFill/>
          <a:ln/>
        </p:spPr>
        <p:txBody>
          <a:bodyPr wrap="square" rtlCol="0" anchor="ctr"/>
          <a:lstStyle/>
          <a:p>
            <a:pPr marL="0" indent="0">
              <a:buNone/>
            </a:pPr>
            <a:r>
              <a:rPr lang="en-US" sz="1600" b="1" dirty="0">
                <a:solidFill>
                  <a:srgbClr val="1C7293"/>
                </a:solidFill>
              </a:rPr>
              <a:t>Key Documents and Resources:</a:t>
            </a:r>
            <a:endParaRPr lang="en-US" sz="1600" dirty="0"/>
          </a:p>
        </p:txBody>
      </p:sp>
      <p:sp>
        <p:nvSpPr>
          <p:cNvPr id="7" name="Text 4"/>
          <p:cNvSpPr/>
          <p:nvPr/>
        </p:nvSpPr>
        <p:spPr>
          <a:xfrm>
            <a:off x="1097280" y="1737360"/>
            <a:ext cx="7315200" cy="2286000"/>
          </a:xfrm>
          <a:prstGeom prst="rect">
            <a:avLst/>
          </a:prstGeom>
          <a:noFill/>
          <a:ln/>
        </p:spPr>
        <p:txBody>
          <a:bodyPr wrap="square" rtlCol="0" anchor="ctr"/>
          <a:lstStyle/>
          <a:p>
            <a:pPr marL="342900" indent="-342900">
              <a:buSzPct val="100000"/>
              <a:buChar char="•"/>
            </a:pPr>
            <a:r>
              <a:rPr lang="en-US" sz="1200" dirty="0">
                <a:solidFill>
                  <a:srgbClr val="2C3E50"/>
                </a:solidFill>
              </a:rPr>
              <a:t>United Nations Charter (1945)</a:t>
            </a:r>
            <a:endParaRPr lang="en-US" sz="1200" dirty="0"/>
          </a:p>
          <a:p>
            <a:pPr marL="342900" indent="-342900">
              <a:buSzPct val="100000"/>
              <a:buChar char="•"/>
            </a:pPr>
            <a:r>
              <a:rPr lang="en-US" sz="1200" dirty="0">
                <a:solidFill>
                  <a:srgbClr val="2C3E50"/>
                </a:solidFill>
              </a:rPr>
              <a:t>Universal Declaration of Human Rights</a:t>
            </a:r>
            <a:endParaRPr lang="en-US" sz="1200" dirty="0"/>
          </a:p>
          <a:p>
            <a:pPr marL="342900" indent="-342900">
              <a:buSzPct val="100000"/>
              <a:buChar char="•"/>
            </a:pPr>
            <a:r>
              <a:rPr lang="en-US" sz="1200" dirty="0">
                <a:solidFill>
                  <a:srgbClr val="2C3E50"/>
                </a:solidFill>
              </a:rPr>
              <a:t>International Covenant on Civil and Political Rights</a:t>
            </a:r>
            <a:endParaRPr lang="en-US" sz="1200" dirty="0"/>
          </a:p>
          <a:p>
            <a:pPr marL="342900" indent="-342900">
              <a:buSzPct val="100000"/>
              <a:buChar char="•"/>
            </a:pPr>
            <a:r>
              <a:rPr lang="en-US" sz="1200" dirty="0">
                <a:solidFill>
                  <a:srgbClr val="2C3E50"/>
                </a:solidFill>
              </a:rPr>
              <a:t>International Covenant on Economic, Social and Cultural Rights</a:t>
            </a:r>
            <a:endParaRPr lang="en-US" sz="1200" dirty="0"/>
          </a:p>
          <a:p>
            <a:pPr marL="342900" indent="-342900">
              <a:buSzPct val="100000"/>
              <a:buChar char="•"/>
            </a:pPr>
            <a:r>
              <a:rPr lang="en-US" sz="1200" dirty="0">
                <a:solidFill>
                  <a:srgbClr val="2C3E50"/>
                </a:solidFill>
              </a:rPr>
              <a:t>UN Security Council Resolutions on Protection of Civilians</a:t>
            </a:r>
            <a:endParaRPr lang="en-US" sz="1200" dirty="0"/>
          </a:p>
          <a:p>
            <a:pPr marL="342900" indent="-342900">
              <a:buSzPct val="100000"/>
              <a:buChar char="•"/>
            </a:pPr>
            <a:r>
              <a:rPr lang="en-US" sz="1200" dirty="0">
                <a:solidFill>
                  <a:srgbClr val="2C3E50"/>
                </a:solidFill>
              </a:rPr>
              <a:t>MINUSCA and UNMISS mandate documents</a:t>
            </a:r>
            <a:endParaRPr lang="en-US" sz="1200" dirty="0"/>
          </a:p>
          <a:p>
            <a:pPr marL="342900" indent="-342900">
              <a:buSzPct val="100000"/>
              <a:buChar char="•"/>
            </a:pPr>
            <a:r>
              <a:rPr lang="en-US" sz="1200" dirty="0">
                <a:solidFill>
                  <a:srgbClr val="2C3E50"/>
                </a:solidFill>
              </a:rPr>
              <a:t>UN Human Rights Council reports on CAR and South Sudan</a:t>
            </a:r>
            <a:endParaRPr lang="en-US" sz="1200" dirty="0"/>
          </a:p>
          <a:p>
            <a:pPr marL="342900" indent="-342900">
              <a:buSzPct val="100000"/>
              <a:buChar char="•"/>
            </a:pPr>
            <a:r>
              <a:rPr lang="en-US" sz="1200" dirty="0">
                <a:solidFill>
                  <a:srgbClr val="2C3E50"/>
                </a:solidFill>
              </a:rPr>
              <a:t>Office of the High Commissioner for Human Rights (OHCHR) field reports</a:t>
            </a:r>
            <a:endParaRPr lang="en-US" sz="1200" dirty="0"/>
          </a:p>
          <a:p>
            <a:pPr marL="342900" indent="-342900">
              <a:buSzPct val="100000"/>
              <a:buChar char="•"/>
            </a:pPr>
            <a:r>
              <a:rPr lang="en-US" sz="1200" dirty="0">
                <a:solidFill>
                  <a:srgbClr val="2C3E50"/>
                </a:solidFill>
              </a:rPr>
              <a:t>Peacekeeping best practices and lessons learned studies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5A82"/>
        </a:solidFill>
        <a:effectLst/>
      </p:bgPr>
    </p:bg>
    <p:spTree>
      <p:nvGrpSpPr>
        <p:cNvPr id="1" name=""/>
        <p:cNvGrpSpPr/>
        <p:nvPr/>
      </p:nvGrpSpPr>
      <p:grpSpPr>
        <a:xfrm>
          <a:off x="0" y="0"/>
          <a:ext cx="0" cy="0"/>
          <a:chOff x="0" y="0"/>
          <a:chExt cx="0" cy="0"/>
        </a:xfrm>
      </p:grpSpPr>
      <p:sp>
        <p:nvSpPr>
          <p:cNvPr id="2" name="Text 0"/>
          <p:cNvSpPr/>
          <p:nvPr/>
        </p:nvSpPr>
        <p:spPr>
          <a:xfrm>
            <a:off x="457200" y="1645920"/>
            <a:ext cx="8229600" cy="731520"/>
          </a:xfrm>
          <a:prstGeom prst="rect">
            <a:avLst/>
          </a:prstGeom>
          <a:noFill/>
          <a:ln/>
        </p:spPr>
        <p:txBody>
          <a:bodyPr wrap="square" rtlCol="0" anchor="ctr"/>
          <a:lstStyle/>
          <a:p>
            <a:pPr marL="0" indent="0" algn="ctr">
              <a:buNone/>
            </a:pPr>
            <a:r>
              <a:rPr lang="en-US" sz="4800" b="1" dirty="0">
                <a:solidFill>
                  <a:srgbClr val="FFFFFF"/>
                </a:solidFill>
              </a:rPr>
              <a:t>THANK YOU</a:t>
            </a:r>
            <a:endParaRPr lang="en-US" sz="4800" dirty="0"/>
          </a:p>
        </p:txBody>
      </p:sp>
      <p:sp>
        <p:nvSpPr>
          <p:cNvPr id="3" name="Text 1"/>
          <p:cNvSpPr/>
          <p:nvPr/>
        </p:nvSpPr>
        <p:spPr>
          <a:xfrm>
            <a:off x="457200" y="2560320"/>
            <a:ext cx="8229600" cy="457200"/>
          </a:xfrm>
          <a:prstGeom prst="rect">
            <a:avLst/>
          </a:prstGeom>
          <a:noFill/>
          <a:ln/>
        </p:spPr>
        <p:txBody>
          <a:bodyPr wrap="square" rtlCol="0" anchor="ctr"/>
          <a:lstStyle/>
          <a:p>
            <a:pPr marL="0" indent="0" algn="ctr">
              <a:buNone/>
            </a:pPr>
            <a:r>
              <a:rPr lang="en-US" sz="2400" i="1" dirty="0">
                <a:solidFill>
                  <a:srgbClr val="CADCFC"/>
                </a:solidFill>
              </a:rPr>
              <a:t>Questions &amp; Discussion</a:t>
            </a:r>
            <a:endParaRPr lang="en-US" sz="2400" dirty="0"/>
          </a:p>
        </p:txBody>
      </p:sp>
      <p:sp>
        <p:nvSpPr>
          <p:cNvPr id="4" name="Text 2"/>
          <p:cNvSpPr/>
          <p:nvPr/>
        </p:nvSpPr>
        <p:spPr>
          <a:xfrm>
            <a:off x="457200" y="3474720"/>
            <a:ext cx="8229600" cy="457200"/>
          </a:xfrm>
          <a:prstGeom prst="rect">
            <a:avLst/>
          </a:prstGeom>
          <a:noFill/>
          <a:ln/>
        </p:spPr>
        <p:txBody>
          <a:bodyPr wrap="square" rtlCol="0" anchor="ctr"/>
          <a:lstStyle/>
          <a:p>
            <a:pPr marL="0" indent="0" algn="ctr">
              <a:buNone/>
            </a:pPr>
            <a:r>
              <a:rPr lang="en-US" sz="1400" dirty="0">
                <a:solidFill>
                  <a:srgbClr val="CADCFC"/>
                </a:solidFill>
              </a:rPr>
              <a:t>Dr. Musa Yerro Gassama</a:t>
            </a:r>
            <a:endParaRPr lang="en-US" sz="1400" dirty="0"/>
          </a:p>
          <a:p>
            <a:pPr marL="0" indent="0" algn="ctr">
              <a:buNone/>
            </a:pPr>
            <a:r>
              <a:rPr lang="en-US" sz="1400" dirty="0">
                <a:solidFill>
                  <a:srgbClr val="CADCFC"/>
                </a:solidFill>
              </a:rPr>
              <a:t>gassama@un.org</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7eb58d0f-f804-411f-a20e-09ebfae62b4c}" enabled="1" method="Privileged" siteId="{0f9e35db-544f-4f60-bdcc-5ea416e6dc70}" contentBits="0" removed="0"/>
</clbl:labelList>
</file>

<file path=docProps/app.xml><?xml version="1.0" encoding="utf-8"?>
<Properties xmlns="http://schemas.openxmlformats.org/officeDocument/2006/extended-properties" xmlns:vt="http://schemas.openxmlformats.org/officeDocument/2006/docPropsVTypes">
  <TotalTime>0</TotalTime>
  <Words>1075</Words>
  <Application>Microsoft Office PowerPoint</Application>
  <PresentationFormat>On-screen Show (16:9)</PresentationFormat>
  <Paragraphs>90</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Human Rights Agenda in UN Peacekeeping Field Missions</dc:title>
  <dc:subject>PptxGenJS Presentation</dc:subject>
  <dc:creator>Dr. Musa Yerro Gassama</dc:creator>
  <cp:lastModifiedBy>Mafizul Islam</cp:lastModifiedBy>
  <cp:revision>2</cp:revision>
  <dcterms:created xsi:type="dcterms:W3CDTF">2026-02-10T13:45:14Z</dcterms:created>
  <dcterms:modified xsi:type="dcterms:W3CDTF">2026-02-10T13:48:25Z</dcterms:modified>
</cp:coreProperties>
</file>